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9" r:id="rId11"/>
    <p:sldId id="262" r:id="rId12"/>
    <p:sldId id="263" r:id="rId13"/>
    <p:sldId id="264" r:id="rId14"/>
    <p:sldId id="265" r:id="rId15"/>
    <p:sldId id="270" r:id="rId16"/>
    <p:sldId id="266" r:id="rId17"/>
    <p:sldId id="267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Streaming Projesi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 &amp; Makine Öğrenmesi Boru Hattı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5029200" cy="3657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grpSp>
        <p:nvGrpSpPr>
          <p:cNvPr id="19" name="Group 18"/>
          <p:cNvGrpSpPr/>
          <p:nvPr/>
        </p:nvGrpSpPr>
        <p:grpSpPr>
          <a:xfrm>
            <a:off x="457200" y="3154680"/>
            <a:ext cx="7575550" cy="613410"/>
            <a:chOff x="720" y="4968"/>
            <a:chExt cx="12528" cy="1871"/>
          </a:xfrm>
        </p:grpSpPr>
        <p:sp>
          <p:nvSpPr>
            <p:cNvPr id="11" name="Shape 8"/>
            <p:cNvSpPr/>
            <p:nvPr/>
          </p:nvSpPr>
          <p:spPr>
            <a:xfrm>
              <a:off x="720" y="4968"/>
              <a:ext cx="6048" cy="835"/>
            </a:xfrm>
            <a:prstGeom prst="rect">
              <a:avLst/>
            </a:prstGeom>
            <a:solidFill>
              <a:srgbClr val="162032"/>
            </a:solidFill>
            <a:ln w="12700">
              <a:solidFill>
                <a:srgbClr val="0077B6"/>
              </a:solidFill>
              <a:prstDash val="solid"/>
            </a:ln>
          </p:spPr>
        </p:sp>
        <p:sp>
          <p:nvSpPr>
            <p:cNvPr id="12" name="Text 9"/>
            <p:cNvSpPr/>
            <p:nvPr/>
          </p:nvSpPr>
          <p:spPr>
            <a:xfrm>
              <a:off x="1008" y="5069"/>
              <a:ext cx="5760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E0F4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Özkan Yılmaz  220201040</a:t>
              </a:r>
              <a:endParaRPr lang="en-US" sz="13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7200" y="4968"/>
              <a:ext cx="6048" cy="835"/>
            </a:xfrm>
            <a:prstGeom prst="rect">
              <a:avLst/>
            </a:prstGeom>
            <a:solidFill>
              <a:srgbClr val="162032"/>
            </a:solidFill>
            <a:ln w="12700">
              <a:solidFill>
                <a:srgbClr val="0077B6"/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7488" y="5069"/>
              <a:ext cx="5760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E0F4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Furkan Can İşci  220201125</a:t>
              </a:r>
              <a:endParaRPr lang="en-US" sz="13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720" y="6005"/>
              <a:ext cx="6048" cy="835"/>
            </a:xfrm>
            <a:prstGeom prst="rect">
              <a:avLst/>
            </a:prstGeom>
            <a:solidFill>
              <a:srgbClr val="162032"/>
            </a:solidFill>
            <a:ln w="12700">
              <a:solidFill>
                <a:srgbClr val="0077B6"/>
              </a:solidFill>
              <a:prstDash val="solid"/>
            </a:ln>
          </p:spPr>
        </p:sp>
        <p:sp>
          <p:nvSpPr>
            <p:cNvPr id="16" name="Text 13"/>
            <p:cNvSpPr/>
            <p:nvPr/>
          </p:nvSpPr>
          <p:spPr>
            <a:xfrm>
              <a:off x="1008" y="6106"/>
              <a:ext cx="5760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E0F4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Umut Kahraman  220201108</a:t>
              </a:r>
              <a:endParaRPr lang="en-US" sz="13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7200" y="6005"/>
              <a:ext cx="6048" cy="835"/>
            </a:xfrm>
            <a:prstGeom prst="rect">
              <a:avLst/>
            </a:prstGeom>
            <a:solidFill>
              <a:srgbClr val="162032"/>
            </a:solidFill>
            <a:ln w="12700">
              <a:solidFill>
                <a:srgbClr val="0077B6"/>
              </a:solidFill>
              <a:prstDash val="solid"/>
            </a:ln>
          </p:spPr>
        </p:sp>
        <p:sp>
          <p:nvSpPr>
            <p:cNvPr id="18" name="Text 15"/>
            <p:cNvSpPr/>
            <p:nvPr/>
          </p:nvSpPr>
          <p:spPr>
            <a:xfrm>
              <a:off x="7488" y="6106"/>
              <a:ext cx="5760" cy="64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E0F4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Ömer Bayrak  220201120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Amacı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06424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Gerçek Zamanlı Akış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106424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formatındaki ham Amazon yorum verisini Kafka ile akışa sokmak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801368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56232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Veri Temizleme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6120" y="1856232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ile Silver katmanı üretmek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551176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0604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Analiz &amp; EDA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çıktılarıyla veriyi keşfetmek ve özetlemek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300984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55848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3355848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modeline uygun anlamlı özellikler oluşturmak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050792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05656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Model Karşılaştırma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4105656"/>
            <a:ext cx="53949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ile çoklu model karşılaştırması ve en iyi modeli kaydetmek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Mimarisi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veri dönüşüm yaklaşımı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06040" cy="54864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233172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→ Kafka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kayıtlar olarak akışa alınır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0604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71600"/>
            <a:ext cx="2606040" cy="548640"/>
          </a:xfrm>
          <a:prstGeom prst="rect">
            <a:avLst/>
          </a:prstGeom>
          <a:solidFill>
            <a:srgbClr val="A8A9AD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1732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Temizlenmiş Veri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468880"/>
            <a:ext cx="233172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dönüşümü, null temizleme, Parquet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06040" cy="548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1732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Verisi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33172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formatında ML-hazır tablo</a:t>
            </a:r>
            <a:r>
              <a:rPr lang="tr-TR" alt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haline getirilmesi</a:t>
            </a:r>
            <a:endParaRPr lang="tr-TR" altLang="en-US" sz="1200" dirty="0">
              <a:solidFill>
                <a:srgbClr val="E0F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108960" y="2971800"/>
            <a:ext cx="182880" cy="7315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971800"/>
            <a:ext cx="182880" cy="7315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83464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97880" y="283464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Teknolojiler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0116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2011680" cy="16459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810512"/>
            <a:ext cx="1874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orkestrasyonu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20116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097280"/>
            <a:ext cx="2011680" cy="164592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9192" y="1810512"/>
            <a:ext cx="1874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akış katmanı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20116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097280"/>
            <a:ext cx="2011680" cy="164592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810512"/>
            <a:ext cx="1874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işlem motoru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097280"/>
            <a:ext cx="20116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0" y="1097280"/>
            <a:ext cx="2011680" cy="164592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68312" y="1810512"/>
            <a:ext cx="1874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 ile Spark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743200"/>
            <a:ext cx="20116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AD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43200"/>
            <a:ext cx="2011680" cy="164592"/>
          </a:xfrm>
          <a:prstGeom prst="rect">
            <a:avLst/>
          </a:prstGeom>
          <a:solidFill>
            <a:srgbClr val="00ADD4"/>
          </a:solidFill>
          <a:ln w="12700">
            <a:solidFill>
              <a:srgbClr val="00A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97180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456432"/>
            <a:ext cx="1874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Versiyonlanabilir tablo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2743200"/>
            <a:ext cx="20116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194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2743200"/>
            <a:ext cx="2011680" cy="164592"/>
          </a:xfrm>
          <a:prstGeom prst="rect">
            <a:avLst/>
          </a:prstGeom>
          <a:solidFill>
            <a:srgbClr val="0194E2"/>
          </a:solidFill>
          <a:ln w="12700">
            <a:solidFill>
              <a:srgbClr val="0194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297180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79192" y="3456432"/>
            <a:ext cx="1874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takibi &amp; model kayıt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743200"/>
            <a:ext cx="20116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E04A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743200"/>
            <a:ext cx="2011680" cy="164592"/>
          </a:xfrm>
          <a:prstGeom prst="rect">
            <a:avLst/>
          </a:prstGeom>
          <a:solidFill>
            <a:srgbClr val="E04A23"/>
          </a:solidFill>
          <a:ln w="12700">
            <a:solidFill>
              <a:srgbClr val="E04A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7180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73752" y="3456432"/>
            <a:ext cx="1874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koordinasyonu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95160" y="2743200"/>
            <a:ext cx="201168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377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5160" y="2743200"/>
            <a:ext cx="2011680" cy="164592"/>
          </a:xfrm>
          <a:prstGeom prst="rect">
            <a:avLst/>
          </a:prstGeom>
          <a:solidFill>
            <a:srgbClr val="F37726"/>
          </a:solidFill>
          <a:ln w="12700">
            <a:solidFill>
              <a:srgbClr val="F377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297180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68312" y="3456432"/>
            <a:ext cx="1874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 &amp; analiz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Veri Akışı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188720"/>
            <a:ext cx="1325880" cy="3291840"/>
          </a:xfrm>
          <a:prstGeom prst="rect">
            <a:avLst/>
          </a:prstGeom>
          <a:solidFill>
            <a:srgbClr val="1620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" y="1005840"/>
            <a:ext cx="585216" cy="5852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" y="1042416"/>
            <a:ext cx="58521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17957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Dosyası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1795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Amazon yorumları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19656" y="1188720"/>
            <a:ext cx="1325880" cy="3291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89988" y="1005840"/>
            <a:ext cx="585216" cy="5852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89988" y="1042416"/>
            <a:ext cx="58521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92808" y="1828800"/>
            <a:ext cx="117957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92808" y="2468880"/>
            <a:ext cx="11795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akışı başlatılır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55264" y="1188720"/>
            <a:ext cx="1325880" cy="3291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5596" y="1005840"/>
            <a:ext cx="585216" cy="5852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5596" y="1042416"/>
            <a:ext cx="58521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8416" y="1828800"/>
            <a:ext cx="117957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28416" y="2468880"/>
            <a:ext cx="11795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amazon_reviews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1188720"/>
            <a:ext cx="1325880" cy="3291840"/>
          </a:xfrm>
          <a:prstGeom prst="rect">
            <a:avLst/>
          </a:prstGeom>
          <a:solidFill>
            <a:srgbClr val="162032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1204" y="1005840"/>
            <a:ext cx="585216" cy="585216"/>
          </a:xfrm>
          <a:prstGeom prst="ellipse">
            <a:avLst/>
          </a:prstGeom>
          <a:solidFill>
            <a:srgbClr val="A8A9AD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61204" y="1042416"/>
            <a:ext cx="58521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4024" y="1828800"/>
            <a:ext cx="117957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4024" y="2468880"/>
            <a:ext cx="11795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katmanı üretilir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1325880" cy="32918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6812" y="1005840"/>
            <a:ext cx="585216" cy="5852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6812" y="1042416"/>
            <a:ext cx="58521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99632" y="1828800"/>
            <a:ext cx="117957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Feature Eng.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2468880"/>
            <a:ext cx="11795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katmanı üretilir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62088" y="1188720"/>
            <a:ext cx="1325880" cy="3291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32420" y="1005840"/>
            <a:ext cx="585216" cy="5852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2420" y="1042416"/>
            <a:ext cx="58521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35240" y="1828800"/>
            <a:ext cx="117957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35240" y="2468880"/>
            <a:ext cx="11795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eğitimi &amp; kayıt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37360" y="2148840"/>
            <a:ext cx="1097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172968" y="2148840"/>
            <a:ext cx="1097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08576" y="2148840"/>
            <a:ext cx="1097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044184" y="2148840"/>
            <a:ext cx="1097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79792" y="2148840"/>
            <a:ext cx="1097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tr-TR" altLang="en-US" sz="3000" b="1" dirty="0">
                <a:solidFill>
                  <a:schemeClr val="bg1"/>
                </a:solidFill>
              </a:rPr>
              <a:t>Docker Compose</a:t>
            </a:r>
            <a:endParaRPr lang="tr-TR" altLang="en-US" sz="3000" b="1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Altyap</a:t>
            </a:r>
            <a:r>
              <a:rPr lang="" altLang="en-US" sz="1400" dirty="0">
                <a:solidFill>
                  <a:schemeClr val="bg1"/>
                </a:solidFill>
              </a:rPr>
              <a:t>ı</a:t>
            </a:r>
            <a:r>
              <a:rPr lang="en-US" altLang="en-US" sz="1400" dirty="0">
                <a:solidFill>
                  <a:schemeClr val="bg1"/>
                </a:solidFill>
              </a:rPr>
              <a:t> Mimarisi ve Konteynerizasyon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314450"/>
            <a:ext cx="7550785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314450"/>
            <a:ext cx="14097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87475"/>
            <a:ext cx="7254875" cy="2927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tr-TR" alt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Taşınabilirlik</a:t>
            </a:r>
            <a:endParaRPr lang="tr-TR" altLang="en-US" sz="1300" b="1" dirty="0">
              <a:solidFill>
                <a:srgbClr val="00B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98625"/>
            <a:ext cx="7254875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00" dirty="0">
                <a:solidFill>
                  <a:schemeClr val="bg1"/>
                </a:solidFill>
              </a:rPr>
              <a:t>Farkl</a:t>
            </a:r>
            <a:r>
              <a:rPr lang="" altLang="en-US" sz="1100" dirty="0">
                <a:solidFill>
                  <a:schemeClr val="bg1"/>
                </a:solidFill>
              </a:rPr>
              <a:t>ı</a:t>
            </a:r>
            <a:r>
              <a:rPr lang="en-US" altLang="en-US" sz="1100" dirty="0">
                <a:solidFill>
                  <a:schemeClr val="bg1"/>
                </a:solidFill>
              </a:rPr>
              <a:t> i</a:t>
            </a:r>
            <a:r>
              <a:rPr lang="" altLang="en-US" sz="1100" dirty="0">
                <a:solidFill>
                  <a:schemeClr val="bg1"/>
                </a:solidFill>
              </a:rPr>
              <a:t>ş</a:t>
            </a:r>
            <a:r>
              <a:rPr lang="en-US" altLang="en-US" sz="1100" dirty="0">
                <a:solidFill>
                  <a:schemeClr val="bg1"/>
                </a:solidFill>
              </a:rPr>
              <a:t>letim sistemlerinde (Windows, macOS) kütüphane ba</a:t>
            </a:r>
            <a:r>
              <a:rPr lang="" altLang="en-US" sz="1100" dirty="0">
                <a:solidFill>
                  <a:schemeClr val="bg1"/>
                </a:solidFill>
              </a:rPr>
              <a:t>ğı</a:t>
            </a:r>
            <a:r>
              <a:rPr lang="en-US" altLang="en-US" sz="1100" dirty="0">
                <a:solidFill>
                  <a:schemeClr val="bg1"/>
                </a:solidFill>
              </a:rPr>
              <a:t>ml</a:t>
            </a:r>
            <a:r>
              <a:rPr lang="" altLang="en-US" sz="1100" dirty="0">
                <a:solidFill>
                  <a:schemeClr val="bg1"/>
                </a:solidFill>
              </a:rPr>
              <a:t>ı</a:t>
            </a:r>
            <a:r>
              <a:rPr lang="en-US" altLang="en-US" sz="1100" dirty="0">
                <a:solidFill>
                  <a:schemeClr val="bg1"/>
                </a:solidFill>
              </a:rPr>
              <a:t>l</a:t>
            </a:r>
            <a:r>
              <a:rPr lang="" altLang="en-US" sz="1100" dirty="0">
                <a:solidFill>
                  <a:schemeClr val="bg1"/>
                </a:solidFill>
              </a:rPr>
              <a:t>ı</a:t>
            </a:r>
            <a:r>
              <a:rPr lang="en-US" altLang="en-US" sz="1100" dirty="0">
                <a:solidFill>
                  <a:schemeClr val="bg1"/>
                </a:solidFill>
              </a:rPr>
              <a:t>klar</a:t>
            </a:r>
            <a:r>
              <a:rPr lang="" altLang="en-US" sz="1100" dirty="0">
                <a:solidFill>
                  <a:schemeClr val="bg1"/>
                </a:solidFill>
              </a:rPr>
              <a:t>ı</a:t>
            </a:r>
            <a:r>
              <a:rPr lang="en-US" altLang="en-US" sz="1100" dirty="0">
                <a:solidFill>
                  <a:schemeClr val="bg1"/>
                </a:solidFill>
              </a:rPr>
              <a:t>n</a:t>
            </a:r>
            <a:r>
              <a:rPr lang="" altLang="en-US" sz="1100" dirty="0">
                <a:solidFill>
                  <a:schemeClr val="bg1"/>
                </a:solidFill>
              </a:rPr>
              <a:t>ı</a:t>
            </a:r>
            <a:r>
              <a:rPr lang="en-US" altLang="en-US" sz="1100" dirty="0">
                <a:solidFill>
                  <a:schemeClr val="bg1"/>
                </a:solidFill>
              </a:rPr>
              <a:t>n </a:t>
            </a:r>
            <a:r>
              <a:rPr lang="" altLang="en-US" sz="1100" dirty="0">
                <a:solidFill>
                  <a:schemeClr val="bg1"/>
                </a:solidFill>
              </a:rPr>
              <a:t>ç</a:t>
            </a:r>
            <a:r>
              <a:rPr lang="en-US" altLang="en-US" sz="1100" dirty="0">
                <a:solidFill>
                  <a:schemeClr val="bg1"/>
                </a:solidFill>
              </a:rPr>
              <a:t>ak</a:t>
            </a:r>
            <a:r>
              <a:rPr lang="" altLang="en-US" sz="1100" dirty="0">
                <a:solidFill>
                  <a:schemeClr val="bg1"/>
                </a:solidFill>
              </a:rPr>
              <a:t>ış</a:t>
            </a:r>
            <a:r>
              <a:rPr lang="en-US" altLang="en-US" sz="1100" dirty="0">
                <a:solidFill>
                  <a:schemeClr val="bg1"/>
                </a:solidFill>
              </a:rPr>
              <a:t>mas</a:t>
            </a:r>
            <a:r>
              <a:rPr lang="" altLang="en-US" sz="1100" dirty="0">
                <a:solidFill>
                  <a:schemeClr val="bg1"/>
                </a:solidFill>
              </a:rPr>
              <a:t>ı</a:t>
            </a:r>
            <a:r>
              <a:rPr lang="en-US" altLang="en-US" sz="1100" dirty="0">
                <a:solidFill>
                  <a:schemeClr val="bg1"/>
                </a:solidFill>
              </a:rPr>
              <a:t>n</a:t>
            </a:r>
            <a:r>
              <a:rPr lang="" altLang="en-US" sz="1100" dirty="0">
                <a:solidFill>
                  <a:schemeClr val="bg1"/>
                </a:solidFill>
              </a:rPr>
              <a:t>ı</a:t>
            </a:r>
            <a:r>
              <a:rPr lang="en-US" altLang="en-US" sz="1100" dirty="0">
                <a:solidFill>
                  <a:schemeClr val="bg1"/>
                </a:solidFill>
              </a:rPr>
              <a:t> önleyerek ta</a:t>
            </a:r>
            <a:r>
              <a:rPr lang="" altLang="en-US" sz="1100" dirty="0">
                <a:solidFill>
                  <a:schemeClr val="bg1"/>
                </a:solidFill>
              </a:rPr>
              <a:t>şı</a:t>
            </a:r>
            <a:r>
              <a:rPr lang="en-US" altLang="en-US" sz="1100" dirty="0">
                <a:solidFill>
                  <a:schemeClr val="bg1"/>
                </a:solidFill>
              </a:rPr>
              <a:t>nabilirlik (Portability) sa</a:t>
            </a:r>
            <a:r>
              <a:rPr lang="" altLang="en-US" sz="1100" dirty="0">
                <a:solidFill>
                  <a:schemeClr val="bg1"/>
                </a:solidFill>
              </a:rPr>
              <a:t>ğ</a:t>
            </a:r>
            <a:r>
              <a:rPr lang="en-US" altLang="en-US" sz="1100" dirty="0">
                <a:solidFill>
                  <a:schemeClr val="bg1"/>
                </a:solidFill>
              </a:rPr>
              <a:t>lad</a:t>
            </a:r>
            <a:r>
              <a:rPr lang="" altLang="en-US" sz="1100" dirty="0">
                <a:solidFill>
                  <a:schemeClr val="bg1"/>
                </a:solidFill>
              </a:rPr>
              <a:t>ı</a:t>
            </a:r>
            <a:r>
              <a:rPr lang="en-US" altLang="en-US" sz="1100" dirty="0">
                <a:solidFill>
                  <a:schemeClr val="bg1"/>
                </a:solidFill>
              </a:rPr>
              <a:t>k</a:t>
            </a:r>
            <a:endParaRPr lang="en-US" alt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5330" y="2514600"/>
            <a:ext cx="741045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805" y="2513330"/>
            <a:ext cx="136525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76195"/>
            <a:ext cx="7254875" cy="2927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tr-TR" alt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Tekrarlanabilirlik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887345"/>
            <a:ext cx="7254875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her seferinde ayn</a:t>
            </a:r>
            <a:r>
              <a:rPr lang="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ortamda, ayn</a:t>
            </a:r>
            <a:r>
              <a:rPr lang="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versiyonlarla </a:t>
            </a:r>
            <a:r>
              <a:rPr lang="tr-TR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çalışmasını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sağladık.</a:t>
            </a:r>
            <a:endParaRPr lang="tr-TR" sz="1100" dirty="0"/>
          </a:p>
        </p:txBody>
      </p:sp>
      <p:sp>
        <p:nvSpPr>
          <p:cNvPr id="30" name="Shape 7"/>
          <p:cNvSpPr/>
          <p:nvPr/>
        </p:nvSpPr>
        <p:spPr>
          <a:xfrm>
            <a:off x="594360" y="3776345"/>
            <a:ext cx="7550785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8"/>
          <p:cNvSpPr/>
          <p:nvPr/>
        </p:nvSpPr>
        <p:spPr>
          <a:xfrm>
            <a:off x="594360" y="3776345"/>
            <a:ext cx="136525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9"/>
          <p:cNvSpPr/>
          <p:nvPr/>
        </p:nvSpPr>
        <p:spPr>
          <a:xfrm>
            <a:off x="777240" y="3849370"/>
            <a:ext cx="7036435" cy="2927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tr-TR" alt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</a:t>
            </a:r>
            <a:endParaRPr lang="tr-TR" altLang="en-US" sz="1300" b="1" dirty="0">
              <a:solidFill>
                <a:srgbClr val="00B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777240" y="4160520"/>
            <a:ext cx="7036435" cy="5302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master, Kafka broker ve ZooKeeper gibi birbirinden farkl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klara sahip servisleri, birbirini etkilemeden izole bir 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ekilde 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ış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kafka_producer.py — TSV → JSON → Kafka Topic</a:t>
            </a:r>
            <a:r>
              <a:rPr lang="tr-TR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tr-TR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Amazon'un canl</a:t>
            </a:r>
            <a:r>
              <a:rPr lang="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sistemindeki veri trafi</a:t>
            </a:r>
            <a:r>
              <a:rPr lang="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kendi Docker ortam</a:t>
            </a:r>
            <a:r>
              <a:rPr lang="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 canland</a:t>
            </a:r>
            <a:r>
              <a:rPr lang="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r>
              <a:rPr lang="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ış</a:t>
            </a:r>
            <a:r>
              <a:rPr lang="en-US" alt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olduk</a:t>
            </a:r>
            <a:endParaRPr lang="en-US" altLang="en-US" sz="1400" dirty="0">
              <a:solidFill>
                <a:srgbClr val="90E0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2336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9903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Okuma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3749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Ortam değişkenlerinden broker adresi, topic ve dosya yolu okunur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2336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32588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9903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Satır İşlem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709928"/>
            <a:ext cx="3749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header'ı ayrıştırılır, her satır JSON'a dönüştürülür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402336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1460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8775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 Gönderim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898648"/>
            <a:ext cx="3749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acks='all' ile broker onayı beklenir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402336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1460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58775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Sıkıştırma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898648"/>
            <a:ext cx="3749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compression_type='gzip' ile ağ trafiği azaltılır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402336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0332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7647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Garantisi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087368"/>
            <a:ext cx="3749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max_in_flight_requests=1 ile kayıt sırası korunur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402336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70332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77647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Toleransı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087368"/>
            <a:ext cx="3749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Bozuk satırlar loglanır ve atlanır; akış kesilmez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A9AD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Katmanı — Spark Streaming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streaming.py — Kafka'dan okuma → Temizleme → Parquet yazma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846320" cy="3566160"/>
          </a:xfrm>
          <a:prstGeom prst="rect">
            <a:avLst/>
          </a:prstGeom>
          <a:solidFill>
            <a:srgbClr val="162032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oluşturulur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73936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 okunur (value → string)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from_json ile schema'ya parse edilir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 alanlarda dropna uygulanır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3580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alanlar int tipine çevrilir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45643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review_date → date tipine dönüştürülür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877056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review_length yardımcı alanı eklenir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2976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A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formatında Silver klasörüne yazılır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94960" y="1234440"/>
            <a:ext cx="342900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298448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 Alanlar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1719072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review_id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011680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product_id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304288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review_body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596896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star_rating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3108960"/>
            <a:ext cx="34290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172968"/>
            <a:ext cx="3246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3566160"/>
            <a:ext cx="32461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çıktısı Parquet formatındadır. Delta tabanlı yaklaşım Gold katmanında devreye girer. Feature Engineering scripti önce Delta okumayı dener, uyumsuzluk durumunda Parquet'e düşer.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(EDA)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eda.py — Silver veriden özet tablolar ve dağılım analizleri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69080" cy="35661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9844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Üretilen Analizler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Toplam &amp; benzersiz kayıt sayıları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13432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Sayısal kolonların describe() istatistikleri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Eksik değer analizi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65576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Yıldız puanı dağılımı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Verified Purchase &amp; Vine dağılımı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60520" cy="35661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98448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Odakları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737360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Aylık yorum trendi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313432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 çok yorum alan ürünler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889504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 sık yorum yapan müşteriler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465576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Rating bazlı ortalama oy &amp; uzunluk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4041648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Sınıf dengesizliği tespiti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feature_engineering.py — Silver → Gold katmanı (Delta Lake)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51890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51890"/>
            <a:ext cx="64008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042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review_word_count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225042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Yorumun bilgi yoğunluğunu ölçer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901698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01698"/>
            <a:ext cx="64008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74850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helpfulness_ratio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974850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helpful_votes / total_votes — sosyal kanıt sinyali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651506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51506"/>
            <a:ext cx="64008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2465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headline_length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724658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uzunluğu ile kullanıcı tonu sinyali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401314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401314"/>
            <a:ext cx="64008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466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is_verified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3474466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Doğrulanmış satın alım güven sinyali (0/1)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151122"/>
            <a:ext cx="841248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151122"/>
            <a:ext cx="64008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24274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is_long_review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4224274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üstü kelime sayısı bayraklama (0/1)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810125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feature hesapları Spark SQL fonksiyonları ile yapılır → Dağıtık &amp; ölçeklenebilir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94E2"/>
          </a:solidFill>
          <a:ln w="12700">
            <a:solidFill>
              <a:srgbClr val="0194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Eğitimi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ml_training.py — 5 model karşılaştırması + MLflow entegrasyonu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1417320" cy="1417320"/>
          </a:xfrm>
          <a:prstGeom prst="ellipse">
            <a:avLst/>
          </a:prstGeom>
          <a:solidFill>
            <a:srgbClr val="0194E2"/>
          </a:solidFill>
          <a:ln w="12700">
            <a:solidFill>
              <a:srgbClr val="019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2588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66544" y="1234440"/>
            <a:ext cx="1417320" cy="1417320"/>
          </a:xfrm>
          <a:prstGeom prst="ellipse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66544" y="132588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85616" y="1234440"/>
            <a:ext cx="1417320" cy="1417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5616" y="132588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04688" y="1234440"/>
            <a:ext cx="1417320" cy="141732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32588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(OneVsRest)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1234440"/>
            <a:ext cx="1417320" cy="1417320"/>
          </a:xfrm>
          <a:prstGeom prst="ellipse">
            <a:avLst/>
          </a:prstGeom>
          <a:solidFill>
            <a:srgbClr val="A8A9AD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32588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34640"/>
            <a:ext cx="841248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62072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Loglanan Metrikler: Accuracy  |  F1-Score  |  Precision  |  Recall  |  AUC-ROC  |  Confusion Matrix  |  Feature Importance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337560"/>
            <a:ext cx="40233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0156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Model Seçim Kriterleri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3703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151376"/>
            <a:ext cx="3703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480560"/>
            <a:ext cx="3703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337560"/>
            <a:ext cx="420624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0194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401568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9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794760"/>
            <a:ext cx="3931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model amazon_reviews_best_model adıyla MLflow Model Registry'ye kaydedilir. Versiyonlanabilir ve tekrar kullanılabilir.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94E2"/>
          </a:solidFill>
          <a:ln w="12700">
            <a:solidFill>
              <a:srgbClr val="0194E2"/>
            </a:solidFill>
            <a:prstDash val="solid"/>
          </a:ln>
        </p:spPr>
      </p:sp>
      <p:pic>
        <p:nvPicPr>
          <p:cNvPr id="25" name="Picture 24" descr="WhatsApp Image 2026-05-12 at 15.11.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2795" y="635"/>
            <a:ext cx="4561205" cy="5144135"/>
          </a:xfrm>
          <a:prstGeom prst="rect">
            <a:avLst/>
          </a:prstGeom>
        </p:spPr>
      </p:pic>
      <p:pic>
        <p:nvPicPr>
          <p:cNvPr id="26" name="Picture 25" descr="WhatsApp Image 2026-05-12 at 15.11.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635"/>
            <a:ext cx="423291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Yönler &amp; Notlar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6908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6984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Güçlü Yönler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167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Gerçek zamanlı akış ile batch analizi aynı projede birleştirilmiş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1975" y="2706624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benzeri katmanlı veri mimarisi kurulmuş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6735" y="3281426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Spark SQL ile dağıtık ve ölçeklenebilir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ile deney takibi ve merkezi model karşılaştırma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69848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Notlar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536192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çıktısı şu an Parquet formatındadır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0" y="2194560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 scripti Delta → Parquet fallback yapar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0600" y="2852928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Gold katmanını Delta olarak okur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0" y="3511296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 OneVsRest ile çok sınıflı probleme uyarlanmış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4169664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sınıf bazlı ortalamayla hesaplanır</a:t>
            </a:r>
            <a:endParaRPr lang="en-US" sz="12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562610" y="2130552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tr-TR" alt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veri seti</a:t>
            </a:r>
            <a:r>
              <a:rPr lang="tr-TR" alt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r>
              <a:rPr lang="en-US" altLang="en-US" sz="1200" dirty="0">
                <a:solidFill>
                  <a:schemeClr val="bg1"/>
                </a:solidFill>
              </a:rPr>
              <a:t>em kategorik (verified_purchase) hem say</a:t>
            </a:r>
            <a:r>
              <a:rPr lang="" altLang="en-US" sz="1200" dirty="0">
                <a:solidFill>
                  <a:schemeClr val="bg1"/>
                </a:solidFill>
              </a:rPr>
              <a:t>ı</a:t>
            </a:r>
            <a:r>
              <a:rPr lang="en-US" altLang="en-US" sz="1200" dirty="0">
                <a:solidFill>
                  <a:schemeClr val="bg1"/>
                </a:solidFill>
              </a:rPr>
              <a:t>sal (star_rating) hem de metin tabanl</a:t>
            </a:r>
            <a:r>
              <a:rPr lang="" altLang="en-US" sz="1200" dirty="0">
                <a:solidFill>
                  <a:schemeClr val="bg1"/>
                </a:solidFill>
              </a:rPr>
              <a:t>ı</a:t>
            </a:r>
            <a:r>
              <a:rPr lang="en-US" altLang="en-US" sz="1200" dirty="0">
                <a:solidFill>
                  <a:schemeClr val="bg1"/>
                </a:solidFill>
              </a:rPr>
              <a:t> (review_body) verileri bir arada bar</a:t>
            </a:r>
            <a:r>
              <a:rPr lang="" altLang="en-US" sz="1200" dirty="0">
                <a:solidFill>
                  <a:schemeClr val="bg1"/>
                </a:solidFill>
              </a:rPr>
              <a:t>ı</a:t>
            </a:r>
            <a:r>
              <a:rPr lang="en-US" altLang="en-US" sz="1200" dirty="0">
                <a:solidFill>
                  <a:schemeClr val="bg1"/>
                </a:solidFill>
              </a:rPr>
              <a:t>nd</a:t>
            </a:r>
            <a:r>
              <a:rPr lang="" altLang="en-US" sz="1200" dirty="0">
                <a:solidFill>
                  <a:schemeClr val="bg1"/>
                </a:solidFill>
              </a:rPr>
              <a:t>ı</a:t>
            </a:r>
            <a:r>
              <a:rPr lang="en-US" altLang="en-US" sz="1200" dirty="0">
                <a:solidFill>
                  <a:schemeClr val="bg1"/>
                </a:solidFill>
              </a:rPr>
              <a:t>r</a:t>
            </a:r>
            <a:r>
              <a:rPr lang="" altLang="en-US" sz="1200" dirty="0">
                <a:solidFill>
                  <a:schemeClr val="bg1"/>
                </a:solidFill>
              </a:rPr>
              <a:t>ı</a:t>
            </a:r>
            <a:r>
              <a:rPr lang="en-US" altLang="en-US" sz="1200" dirty="0">
                <a:solidFill>
                  <a:schemeClr val="bg1"/>
                </a:solidFill>
              </a:rPr>
              <a:t>yor.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5354955" cy="60325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261872"/>
            <a:ext cx="36576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261872"/>
            <a:ext cx="6217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 gerçek zamanlı akışa alındı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901825"/>
            <a:ext cx="5354955" cy="60325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75104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40280" y="1975104"/>
            <a:ext cx="36576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975104"/>
            <a:ext cx="6217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temizlendi ve Silver katmanı oluşturuldu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614930"/>
            <a:ext cx="5354955" cy="60325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88336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40280" y="2688336"/>
            <a:ext cx="36576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688336"/>
            <a:ext cx="6217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keşfedildi, kalite ve dağılımlar analiz edildi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328670"/>
            <a:ext cx="5345430" cy="60325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01568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40280" y="3401568"/>
            <a:ext cx="36576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401568"/>
            <a:ext cx="6217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katmanında ML-hazır özellikler üretildi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041775"/>
            <a:ext cx="5354955" cy="603250"/>
          </a:xfrm>
          <a:prstGeom prst="rect">
            <a:avLst/>
          </a:prstGeom>
          <a:solidFill>
            <a:srgbClr val="162032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1480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40280" y="4114800"/>
            <a:ext cx="36576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4114800"/>
            <a:ext cx="6217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 karşılaştırıldı, en iyisi kayıt altına alındı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736592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yapı, gerçek bir veri platformundaki katmanlı yaklaşımın teknik ve anlamlı bir örneğidir.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926455" y="1400810"/>
            <a:ext cx="2897505" cy="1367790"/>
          </a:xfrm>
          <a:prstGeom prst="rect">
            <a:avLst/>
          </a:prstGeom>
          <a:solidFill>
            <a:srgbClr val="162032"/>
          </a:solidFill>
          <a:ln w="12700">
            <a:solidFill>
              <a:srgbClr val="0194E2"/>
            </a:solidFill>
            <a:prstDash val="solid"/>
          </a:ln>
        </p:spPr>
        <p:txBody>
          <a:bodyPr/>
          <a:p>
            <a:r>
              <a:rPr lang="en-US" altLang="en-US" sz="1200">
                <a:solidFill>
                  <a:schemeClr val="bg1"/>
                </a:solidFill>
              </a:rPr>
              <a:t>55 GB'l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k ham veri ve Docker imajlar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tr-TR" sz="1200">
                <a:solidFill>
                  <a:schemeClr val="bg1"/>
                </a:solidFill>
              </a:rPr>
              <a:t> çok yer kaplıyordu.</a:t>
            </a:r>
            <a:br>
              <a:rPr lang="" altLang="en-US" sz="1200">
                <a:solidFill>
                  <a:schemeClr val="bg1"/>
                </a:solidFill>
              </a:rPr>
            </a:br>
            <a:endParaRPr lang="en-US" altLang="en-US" sz="1200">
              <a:solidFill>
                <a:schemeClr val="bg1"/>
              </a:solidFill>
            </a:endParaRPr>
          </a:p>
          <a:p>
            <a:r>
              <a:rPr lang="" altLang="en-US" sz="1200">
                <a:solidFill>
                  <a:schemeClr val="bg1"/>
                </a:solidFill>
              </a:rPr>
              <a:t>Ç</a:t>
            </a:r>
            <a:r>
              <a:rPr lang="en-US" altLang="en-US" sz="1200">
                <a:solidFill>
                  <a:schemeClr val="bg1"/>
                </a:solidFill>
              </a:rPr>
              <a:t>özüm: Veri setinden stratejik bir örneklem (sample) alarak test ettik. Docker imajlar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n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 optimize ederek siste</a:t>
            </a:r>
            <a:r>
              <a:rPr lang="tr-TR" altLang="en-US" sz="1200">
                <a:solidFill>
                  <a:schemeClr val="bg1"/>
                </a:solidFill>
              </a:rPr>
              <a:t>min kaynak tüketimini düşürdük.</a:t>
            </a:r>
            <a:endParaRPr lang="tr-TR" altLang="en-US" sz="1200">
              <a:solidFill>
                <a:schemeClr val="bg1"/>
              </a:solidFill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926455" y="2948305"/>
            <a:ext cx="2897505" cy="1510665"/>
          </a:xfrm>
          <a:prstGeom prst="rect">
            <a:avLst/>
          </a:prstGeom>
          <a:solidFill>
            <a:srgbClr val="162032"/>
          </a:solidFill>
          <a:ln w="12700">
            <a:solidFill>
              <a:srgbClr val="0194E2"/>
            </a:solidFill>
            <a:prstDash val="solid"/>
          </a:ln>
        </p:spPr>
        <p:txBody>
          <a:bodyPr/>
          <a:p>
            <a:r>
              <a:rPr lang="en-US" altLang="en-US" sz="1200">
                <a:solidFill>
                  <a:schemeClr val="bg1"/>
                </a:solidFill>
              </a:rPr>
              <a:t>Class overlap (S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n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f örtü</a:t>
            </a:r>
            <a:r>
              <a:rPr lang="" altLang="en-US" sz="1200">
                <a:solidFill>
                  <a:schemeClr val="bg1"/>
                </a:solidFill>
              </a:rPr>
              <a:t>ş</a:t>
            </a:r>
            <a:r>
              <a:rPr lang="en-US" altLang="en-US" sz="1200">
                <a:solidFill>
                  <a:schemeClr val="bg1"/>
                </a:solidFill>
              </a:rPr>
              <a:t>mesi) analizi.</a:t>
            </a:r>
            <a:br>
              <a:rPr lang="en-US" altLang="en-US" sz="1200">
                <a:solidFill>
                  <a:schemeClr val="bg1"/>
                </a:solidFill>
              </a:rPr>
            </a:br>
            <a:br>
              <a:rPr lang="en-US" altLang="en-US" sz="1200">
                <a:solidFill>
                  <a:schemeClr val="bg1"/>
                </a:solidFill>
              </a:rPr>
            </a:br>
            <a:r>
              <a:rPr lang="en-US" altLang="en-US" sz="1200">
                <a:solidFill>
                  <a:schemeClr val="bg1"/>
                </a:solidFill>
              </a:rPr>
              <a:t>Modelimiz 1 ve 5 y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ld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z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 </a:t>
            </a:r>
            <a:r>
              <a:rPr lang="" altLang="en-US" sz="1200">
                <a:solidFill>
                  <a:schemeClr val="bg1"/>
                </a:solidFill>
              </a:rPr>
              <a:t>ç</a:t>
            </a:r>
            <a:r>
              <a:rPr lang="en-US" altLang="en-US" sz="1200">
                <a:solidFill>
                  <a:schemeClr val="bg1"/>
                </a:solidFill>
              </a:rPr>
              <a:t>ok net ay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r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rken, 3 ve 4 y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ld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z aras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ndaki nüanslar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 yakalamakta zorlan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yor. Bunun sebebi kullan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c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lar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n 4 y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ld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z verirken yazd</a:t>
            </a:r>
            <a:r>
              <a:rPr lang="" altLang="en-US" sz="1200">
                <a:solidFill>
                  <a:schemeClr val="bg1"/>
                </a:solidFill>
              </a:rPr>
              <a:t>ığı</a:t>
            </a:r>
            <a:r>
              <a:rPr lang="en-US" altLang="en-US" sz="1200">
                <a:solidFill>
                  <a:schemeClr val="bg1"/>
                </a:solidFill>
              </a:rPr>
              <a:t> metinlerin 3 y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ld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zla benzer duygusal tonlar ta</a:t>
            </a:r>
            <a:r>
              <a:rPr lang="" altLang="en-US" sz="1200">
                <a:solidFill>
                  <a:schemeClr val="bg1"/>
                </a:solidFill>
              </a:rPr>
              <a:t>şı</a:t>
            </a:r>
            <a:r>
              <a:rPr lang="en-US" altLang="en-US" sz="1200">
                <a:solidFill>
                  <a:schemeClr val="bg1"/>
                </a:solidFill>
              </a:rPr>
              <a:t>mas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d</a:t>
            </a:r>
            <a:r>
              <a:rPr lang="" altLang="en-US" sz="1200">
                <a:solidFill>
                  <a:schemeClr val="bg1"/>
                </a:solidFill>
              </a:rPr>
              <a:t>ı</a:t>
            </a:r>
            <a:r>
              <a:rPr lang="en-US" altLang="en-US" sz="1200">
                <a:solidFill>
                  <a:schemeClr val="bg1"/>
                </a:solidFill>
              </a:rPr>
              <a:t>r.</a:t>
            </a:r>
            <a:endParaRPr lang="tr-TR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5776</Words>
  <Application>WPS Presentation</Application>
  <PresentationFormat>On-screen Show (16:9)</PresentationFormat>
  <Paragraphs>365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Microsoft YaHei</vt:lpstr>
      <vt:lpstr>汉仪旗黑</vt:lpstr>
      <vt:lpstr>Arial Unicode MS</vt:lpstr>
      <vt:lpstr>Apple Color Emoji</vt:lpstr>
      <vt:lpstr>宋体-简</vt:lpstr>
      <vt:lpstr>苹方-简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Streaming Projesi</dc:title>
  <dc:creator>PptxGenJS</dc:creator>
  <dc:subject>PptxGenJS Presentation</dc:subject>
  <cp:lastModifiedBy>furkancanisci</cp:lastModifiedBy>
  <cp:revision>29</cp:revision>
  <dcterms:created xsi:type="dcterms:W3CDTF">2026-05-13T17:20:21Z</dcterms:created>
  <dcterms:modified xsi:type="dcterms:W3CDTF">2026-05-13T17:20:21Z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9D6A9FD5229A2C8B0349046AAA51B8D9_42</vt:lpwstr>
  </property>
  <property fmtid="{D5CDD505-2E9C-101B-9397-08002B2CF9AE}" pid="3" name="KSOProductBuildVer">
    <vt:lpwstr>1033-12.1.23135.23135</vt:lpwstr>
  </property>
</Properties>
</file>